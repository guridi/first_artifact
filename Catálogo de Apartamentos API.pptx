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Roboto Bold" charset="1" panose="02000000000000000000"/>
      <p:regular r:id="rId13"/>
    </p:embeddedFont>
    <p:embeddedFont>
      <p:font typeface="Roboto" charset="1" panose="020000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13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png" Type="http://schemas.openxmlformats.org/officeDocument/2006/relationships/image"/><Relationship Id="rId6" Target="../media/image17.pn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12" Target="../media/image33.png" Type="http://schemas.openxmlformats.org/officeDocument/2006/relationships/image"/><Relationship Id="rId13" Target="../media/image34.png" Type="http://schemas.openxmlformats.org/officeDocument/2006/relationships/image"/><Relationship Id="rId14" Target="../media/image35.png" Type="http://schemas.openxmlformats.org/officeDocument/2006/relationships/image"/><Relationship Id="rId15" Target="../media/image36.png" Type="http://schemas.openxmlformats.org/officeDocument/2006/relationships/image"/><Relationship Id="rId16" Target="../media/image37.png" Type="http://schemas.openxmlformats.org/officeDocument/2006/relationships/image"/><Relationship Id="rId17" Target="../media/image38.png" Type="http://schemas.openxmlformats.org/officeDocument/2006/relationships/image"/><Relationship Id="rId18" Target="../media/image39.png" Type="http://schemas.openxmlformats.org/officeDocument/2006/relationships/image"/><Relationship Id="rId2" Target="../media/image23.png" Type="http://schemas.openxmlformats.org/officeDocument/2006/relationships/image"/><Relationship Id="rId3" Target="../media/image24.pn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Relationship Id="rId6" Target="../media/image27.png" Type="http://schemas.openxmlformats.org/officeDocument/2006/relationships/image"/><Relationship Id="rId7" Target="../media/image28.png" Type="http://schemas.openxmlformats.org/officeDocument/2006/relationships/image"/><Relationship Id="rId8" Target="../media/image29.png" Type="http://schemas.openxmlformats.org/officeDocument/2006/relationships/image"/><Relationship Id="rId9" Target="../media/image3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8.png" Type="http://schemas.openxmlformats.org/officeDocument/2006/relationships/image"/><Relationship Id="rId11" Target="../media/image49.png" Type="http://schemas.openxmlformats.org/officeDocument/2006/relationships/image"/><Relationship Id="rId12" Target="../media/image50.png" Type="http://schemas.openxmlformats.org/officeDocument/2006/relationships/image"/><Relationship Id="rId13" Target="../media/image51.png" Type="http://schemas.openxmlformats.org/officeDocument/2006/relationships/image"/><Relationship Id="rId14" Target="../media/image52.png" Type="http://schemas.openxmlformats.org/officeDocument/2006/relationships/image"/><Relationship Id="rId15" Target="../media/image53.png" Type="http://schemas.openxmlformats.org/officeDocument/2006/relationships/image"/><Relationship Id="rId2" Target="../media/image40.png" Type="http://schemas.openxmlformats.org/officeDocument/2006/relationships/image"/><Relationship Id="rId3" Target="../media/image41.png" Type="http://schemas.openxmlformats.org/officeDocument/2006/relationships/image"/><Relationship Id="rId4" Target="../media/image42.png" Type="http://schemas.openxmlformats.org/officeDocument/2006/relationships/image"/><Relationship Id="rId5" Target="../media/image43.png" Type="http://schemas.openxmlformats.org/officeDocument/2006/relationships/image"/><Relationship Id="rId6" Target="../media/image44.png" Type="http://schemas.openxmlformats.org/officeDocument/2006/relationships/image"/><Relationship Id="rId7" Target="../media/image45.png" Type="http://schemas.openxmlformats.org/officeDocument/2006/relationships/image"/><Relationship Id="rId8" Target="../media/image46.png" Type="http://schemas.openxmlformats.org/officeDocument/2006/relationships/image"/><Relationship Id="rId9" Target="../media/image4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2.png" Type="http://schemas.openxmlformats.org/officeDocument/2006/relationships/image"/><Relationship Id="rId11" Target="../media/image63.png" Type="http://schemas.openxmlformats.org/officeDocument/2006/relationships/image"/><Relationship Id="rId12" Target="../media/image64.png" Type="http://schemas.openxmlformats.org/officeDocument/2006/relationships/image"/><Relationship Id="rId13" Target="../media/image65.png" Type="http://schemas.openxmlformats.org/officeDocument/2006/relationships/image"/><Relationship Id="rId14" Target="../media/image66.png" Type="http://schemas.openxmlformats.org/officeDocument/2006/relationships/image"/><Relationship Id="rId15" Target="../media/image67.png" Type="http://schemas.openxmlformats.org/officeDocument/2006/relationships/image"/><Relationship Id="rId16" Target="../media/image68.png" Type="http://schemas.openxmlformats.org/officeDocument/2006/relationships/image"/><Relationship Id="rId17" Target="../media/image69.png" Type="http://schemas.openxmlformats.org/officeDocument/2006/relationships/image"/><Relationship Id="rId18" Target="../media/image70.png" Type="http://schemas.openxmlformats.org/officeDocument/2006/relationships/image"/><Relationship Id="rId19" Target="../media/image71.png" Type="http://schemas.openxmlformats.org/officeDocument/2006/relationships/image"/><Relationship Id="rId2" Target="../media/image54.png" Type="http://schemas.openxmlformats.org/officeDocument/2006/relationships/image"/><Relationship Id="rId20" Target="../media/image72.png" Type="http://schemas.openxmlformats.org/officeDocument/2006/relationships/image"/><Relationship Id="rId3" Target="../media/image55.png" Type="http://schemas.openxmlformats.org/officeDocument/2006/relationships/image"/><Relationship Id="rId4" Target="../media/image56.png" Type="http://schemas.openxmlformats.org/officeDocument/2006/relationships/image"/><Relationship Id="rId5" Target="../media/image57.png" Type="http://schemas.openxmlformats.org/officeDocument/2006/relationships/image"/><Relationship Id="rId6" Target="../media/image58.png" Type="http://schemas.openxmlformats.org/officeDocument/2006/relationships/image"/><Relationship Id="rId7" Target="../media/image59.png" Type="http://schemas.openxmlformats.org/officeDocument/2006/relationships/image"/><Relationship Id="rId8" Target="../media/image60.png" Type="http://schemas.openxmlformats.org/officeDocument/2006/relationships/image"/><Relationship Id="rId9" Target="../media/image6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png" Type="http://schemas.openxmlformats.org/officeDocument/2006/relationships/image"/><Relationship Id="rId12" Target="../media/image83.png" Type="http://schemas.openxmlformats.org/officeDocument/2006/relationships/image"/><Relationship Id="rId13" Target="../media/image84.png" Type="http://schemas.openxmlformats.org/officeDocument/2006/relationships/image"/><Relationship Id="rId14" Target="../media/image85.png" Type="http://schemas.openxmlformats.org/officeDocument/2006/relationships/image"/><Relationship Id="rId15" Target="../media/image86.png" Type="http://schemas.openxmlformats.org/officeDocument/2006/relationships/image"/><Relationship Id="rId16" Target="../media/image87.png" Type="http://schemas.openxmlformats.org/officeDocument/2006/relationships/image"/><Relationship Id="rId17" Target="../media/image88.png" Type="http://schemas.openxmlformats.org/officeDocument/2006/relationships/image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7.png" Type="http://schemas.openxmlformats.org/officeDocument/2006/relationships/image"/><Relationship Id="rId11" Target="../media/image98.png" Type="http://schemas.openxmlformats.org/officeDocument/2006/relationships/image"/><Relationship Id="rId12" Target="../media/image99.png" Type="http://schemas.openxmlformats.org/officeDocument/2006/relationships/image"/><Relationship Id="rId13" Target="../media/image100.png" Type="http://schemas.openxmlformats.org/officeDocument/2006/relationships/image"/><Relationship Id="rId14" Target="../media/image101.png" Type="http://schemas.openxmlformats.org/officeDocument/2006/relationships/image"/><Relationship Id="rId15" Target="../media/image102.png" Type="http://schemas.openxmlformats.org/officeDocument/2006/relationships/image"/><Relationship Id="rId2" Target="../media/image89.png" Type="http://schemas.openxmlformats.org/officeDocument/2006/relationships/image"/><Relationship Id="rId3" Target="../media/image90.png" Type="http://schemas.openxmlformats.org/officeDocument/2006/relationships/image"/><Relationship Id="rId4" Target="../media/image91.png" Type="http://schemas.openxmlformats.org/officeDocument/2006/relationships/image"/><Relationship Id="rId5" Target="../media/image92.png" Type="http://schemas.openxmlformats.org/officeDocument/2006/relationships/image"/><Relationship Id="rId6" Target="../media/image93.png" Type="http://schemas.openxmlformats.org/officeDocument/2006/relationships/image"/><Relationship Id="rId7" Target="../media/image94.png" Type="http://schemas.openxmlformats.org/officeDocument/2006/relationships/image"/><Relationship Id="rId8" Target="../media/image95.png" Type="http://schemas.openxmlformats.org/officeDocument/2006/relationships/image"/><Relationship Id="rId9" Target="../media/image9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1331560" cy="10287000"/>
          </a:xfrm>
          <a:custGeom>
            <a:avLst/>
            <a:gdLst/>
            <a:ahLst/>
            <a:cxnLst/>
            <a:rect r="r" b="b" t="t" l="l"/>
            <a:pathLst>
              <a:path h="10287000" w="11331560">
                <a:moveTo>
                  <a:pt x="0" y="0"/>
                </a:moveTo>
                <a:lnTo>
                  <a:pt x="11331560" y="0"/>
                </a:lnTo>
                <a:lnTo>
                  <a:pt x="113315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0980" y="1507187"/>
            <a:ext cx="9590242" cy="2743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764"/>
              </a:lnSpc>
            </a:pPr>
            <a:r>
              <a:rPr lang="en-US" sz="9357" spc="-187" b="true">
                <a:solidFill>
                  <a:srgbClr val="081A30"/>
                </a:solidFill>
                <a:latin typeface="Roboto Bold"/>
                <a:ea typeface="Roboto Bold"/>
                <a:cs typeface="Roboto Bold"/>
                <a:sym typeface="Roboto Bold"/>
              </a:rPr>
              <a:t>Catálogo de Apartamentos API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3835" y="4757969"/>
            <a:ext cx="7304734" cy="483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3"/>
              </a:lnSpc>
            </a:pPr>
            <a:r>
              <a:rPr lang="en-US" sz="3102">
                <a:solidFill>
                  <a:srgbClr val="081A30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Primer Artefacto – Programación Web II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5783021"/>
            <a:ext cx="7197072" cy="1082267"/>
          </a:xfrm>
          <a:custGeom>
            <a:avLst/>
            <a:gdLst/>
            <a:ahLst/>
            <a:cxnLst/>
            <a:rect r="r" b="b" t="t" l="l"/>
            <a:pathLst>
              <a:path h="1082267" w="7197072">
                <a:moveTo>
                  <a:pt x="0" y="0"/>
                </a:moveTo>
                <a:lnTo>
                  <a:pt x="7197072" y="0"/>
                </a:lnTo>
                <a:lnTo>
                  <a:pt x="7197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82842" y="5990729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957866" y="5990729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45330" y="6854356"/>
            <a:ext cx="7197072" cy="1082267"/>
          </a:xfrm>
          <a:custGeom>
            <a:avLst/>
            <a:gdLst/>
            <a:ahLst/>
            <a:cxnLst/>
            <a:rect r="r" b="b" t="t" l="l"/>
            <a:pathLst>
              <a:path h="1082267" w="7197072">
                <a:moveTo>
                  <a:pt x="0" y="0"/>
                </a:moveTo>
                <a:lnTo>
                  <a:pt x="7197072" y="0"/>
                </a:lnTo>
                <a:lnTo>
                  <a:pt x="719707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2842" y="7062064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957866" y="7280704"/>
            <a:ext cx="229694" cy="437279"/>
          </a:xfrm>
          <a:custGeom>
            <a:avLst/>
            <a:gdLst/>
            <a:ahLst/>
            <a:cxnLst/>
            <a:rect r="r" b="b" t="t" l="l"/>
            <a:pathLst>
              <a:path h="437279" w="229694">
                <a:moveTo>
                  <a:pt x="0" y="0"/>
                </a:moveTo>
                <a:lnTo>
                  <a:pt x="229694" y="0"/>
                </a:lnTo>
                <a:lnTo>
                  <a:pt x="22969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45330" y="8133399"/>
            <a:ext cx="7197072" cy="1082267"/>
          </a:xfrm>
          <a:custGeom>
            <a:avLst/>
            <a:gdLst/>
            <a:ahLst/>
            <a:cxnLst/>
            <a:rect r="r" b="b" t="t" l="l"/>
            <a:pathLst>
              <a:path h="1082267" w="7197072">
                <a:moveTo>
                  <a:pt x="0" y="0"/>
                </a:moveTo>
                <a:lnTo>
                  <a:pt x="7197072" y="0"/>
                </a:lnTo>
                <a:lnTo>
                  <a:pt x="719707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2842" y="8352038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957866" y="8352038"/>
            <a:ext cx="229694" cy="655919"/>
          </a:xfrm>
          <a:custGeom>
            <a:avLst/>
            <a:gdLst/>
            <a:ahLst/>
            <a:cxnLst/>
            <a:rect r="r" b="b" t="t" l="l"/>
            <a:pathLst>
              <a:path h="655919" w="229694">
                <a:moveTo>
                  <a:pt x="0" y="0"/>
                </a:moveTo>
                <a:lnTo>
                  <a:pt x="229694" y="0"/>
                </a:lnTo>
                <a:lnTo>
                  <a:pt x="22969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706488" y="0"/>
            <a:ext cx="9581512" cy="10287000"/>
          </a:xfrm>
          <a:custGeom>
            <a:avLst/>
            <a:gdLst/>
            <a:ahLst/>
            <a:cxnLst/>
            <a:rect r="r" b="b" t="t" l="l"/>
            <a:pathLst>
              <a:path h="10287000" w="9581512">
                <a:moveTo>
                  <a:pt x="0" y="0"/>
                </a:moveTo>
                <a:lnTo>
                  <a:pt x="9581512" y="0"/>
                </a:lnTo>
                <a:lnTo>
                  <a:pt x="958151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57438" y="6171808"/>
            <a:ext cx="508992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true">
                <a:solidFill>
                  <a:srgbClr val="081A30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Integrantes: Antonio e Ysmael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57438" y="7301371"/>
            <a:ext cx="508992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true">
                <a:solidFill>
                  <a:srgbClr val="081A30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Profesora: Johanna Rodriguez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357438" y="8430934"/>
            <a:ext cx="5089922" cy="34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6"/>
              </a:lnSpc>
            </a:pPr>
            <a:r>
              <a:rPr lang="en-US" sz="2321" b="true">
                <a:solidFill>
                  <a:srgbClr val="081A30">
                    <a:alpha val="89804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Fecha: 6/10/2026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445598" y="207708"/>
            <a:ext cx="7842402" cy="6865288"/>
          </a:xfrm>
          <a:custGeom>
            <a:avLst/>
            <a:gdLst/>
            <a:ahLst/>
            <a:cxnLst/>
            <a:rect r="r" b="b" t="t" l="l"/>
            <a:pathLst>
              <a:path h="6865288" w="7842402">
                <a:moveTo>
                  <a:pt x="0" y="0"/>
                </a:moveTo>
                <a:lnTo>
                  <a:pt x="7842402" y="0"/>
                </a:lnTo>
                <a:lnTo>
                  <a:pt x="7842402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802039" y="748739"/>
            <a:ext cx="8200014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b="true">
                <a:solidFill>
                  <a:srgbClr val="101F38"/>
                </a:solidFill>
                <a:latin typeface="Roboto Bold"/>
                <a:ea typeface="Roboto Bold"/>
                <a:cs typeface="Roboto Bold"/>
                <a:sym typeface="Roboto Bold"/>
              </a:rPr>
              <a:t>Idea del proyecto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53799" y="2253697"/>
            <a:ext cx="8381846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30394F"/>
                </a:solidFill>
                <a:latin typeface="Roboto"/>
                <a:ea typeface="Roboto"/>
                <a:cs typeface="Roboto"/>
                <a:sym typeface="Roboto"/>
              </a:rPr>
              <a:t>Construimos un sistema para inmobiliaria o constructora que organiza residenciales y sus apartamentos.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2578" y="3307956"/>
            <a:ext cx="7503927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30394F"/>
                </a:solidFill>
                <a:latin typeface="Roboto"/>
                <a:ea typeface="Roboto"/>
                <a:cs typeface="Roboto"/>
                <a:sym typeface="Roboto"/>
              </a:rPr>
              <a:t>En esta primera etapa, una API para guardar, consultar, modificar y eliminar datos.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5311" y="4362214"/>
            <a:ext cx="7230660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30394F"/>
                </a:solidFill>
                <a:latin typeface="Roboto"/>
                <a:ea typeface="Roboto"/>
                <a:cs typeface="Roboto"/>
                <a:sym typeface="Roboto"/>
              </a:rPr>
              <a:t>Entidades principales: Residenciales y Apartamentos</a:t>
            </a:r>
          </a:p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30394F"/>
                </a:solidFill>
                <a:latin typeface="Roboto"/>
                <a:ea typeface="Roboto"/>
                <a:cs typeface="Roboto"/>
                <a:sym typeface="Roboto"/>
              </a:rPr>
              <a:t>(un residencial puede tener varios apartamentos).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62722" y="5416473"/>
            <a:ext cx="7489473" cy="758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30394F"/>
                </a:solidFill>
                <a:latin typeface="Roboto"/>
                <a:ea typeface="Roboto"/>
                <a:cs typeface="Roboto"/>
                <a:sym typeface="Roboto"/>
              </a:rPr>
              <a:t>En el futuro, esta API alimentará una página web</a:t>
            </a:r>
          </a:p>
          <a:p>
            <a:pPr algn="l">
              <a:lnSpc>
                <a:spcPts val="3055"/>
              </a:lnSpc>
            </a:pPr>
            <a:r>
              <a:rPr lang="en-US" sz="2351">
                <a:solidFill>
                  <a:srgbClr val="30394F"/>
                </a:solidFill>
                <a:latin typeface="Roboto"/>
                <a:ea typeface="Roboto"/>
                <a:cs typeface="Roboto"/>
                <a:sym typeface="Roboto"/>
              </a:rPr>
              <a:t>para que clientes consulten apartamentos disponibles.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82842" y="6635716"/>
            <a:ext cx="3489158" cy="2798589"/>
          </a:xfrm>
          <a:custGeom>
            <a:avLst/>
            <a:gdLst/>
            <a:ahLst/>
            <a:cxnLst/>
            <a:rect r="r" b="b" t="t" l="l"/>
            <a:pathLst>
              <a:path h="2798589" w="3489158">
                <a:moveTo>
                  <a:pt x="0" y="0"/>
                </a:moveTo>
                <a:lnTo>
                  <a:pt x="3489158" y="0"/>
                </a:lnTo>
                <a:lnTo>
                  <a:pt x="348915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176622" y="7062064"/>
            <a:ext cx="1531292" cy="1519546"/>
          </a:xfrm>
          <a:custGeom>
            <a:avLst/>
            <a:gdLst/>
            <a:ahLst/>
            <a:cxnLst/>
            <a:rect r="r" b="b" t="t" l="l"/>
            <a:pathLst>
              <a:path h="1519546" w="1531292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887811" y="8806912"/>
            <a:ext cx="1946522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true">
                <a:solidFill>
                  <a:srgbClr val="101F38"/>
                </a:solidFill>
                <a:latin typeface="Roboto Bold"/>
                <a:ea typeface="Roboto Bold"/>
                <a:cs typeface="Roboto Bold"/>
                <a:sym typeface="Roboto Bold"/>
              </a:rPr>
              <a:t>Inmobiliaria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4779818" y="7707051"/>
            <a:ext cx="2187560" cy="655919"/>
          </a:xfrm>
          <a:custGeom>
            <a:avLst/>
            <a:gdLst/>
            <a:ahLst/>
            <a:cxnLst/>
            <a:rect r="r" b="b" t="t" l="l"/>
            <a:pathLst>
              <a:path h="655919" w="2187560">
                <a:moveTo>
                  <a:pt x="0" y="0"/>
                </a:moveTo>
                <a:lnTo>
                  <a:pt x="2187560" y="0"/>
                </a:lnTo>
                <a:lnTo>
                  <a:pt x="218756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956440" y="6635716"/>
            <a:ext cx="3718852" cy="2798589"/>
          </a:xfrm>
          <a:custGeom>
            <a:avLst/>
            <a:gdLst/>
            <a:ahLst/>
            <a:cxnLst/>
            <a:rect r="r" b="b" t="t" l="l"/>
            <a:pathLst>
              <a:path h="2798589" w="3718852">
                <a:moveTo>
                  <a:pt x="0" y="0"/>
                </a:moveTo>
                <a:lnTo>
                  <a:pt x="3718852" y="0"/>
                </a:lnTo>
                <a:lnTo>
                  <a:pt x="3718852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612708" y="7062064"/>
            <a:ext cx="2406316" cy="1519546"/>
          </a:xfrm>
          <a:custGeom>
            <a:avLst/>
            <a:gdLst/>
            <a:ahLst/>
            <a:cxnLst/>
            <a:rect r="r" b="b" t="t" l="l"/>
            <a:pathLst>
              <a:path h="1519546" w="2406316">
                <a:moveTo>
                  <a:pt x="0" y="0"/>
                </a:moveTo>
                <a:lnTo>
                  <a:pt x="2406316" y="0"/>
                </a:lnTo>
                <a:lnTo>
                  <a:pt x="2406316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613576" y="8806912"/>
            <a:ext cx="2282179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true">
                <a:solidFill>
                  <a:srgbClr val="101F38"/>
                </a:solidFill>
                <a:latin typeface="Roboto Bold"/>
                <a:ea typeface="Roboto Bold"/>
                <a:cs typeface="Roboto Bold"/>
                <a:sym typeface="Roboto Bold"/>
              </a:rPr>
              <a:t>Residenciales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0664354" y="7707051"/>
            <a:ext cx="2406316" cy="655919"/>
          </a:xfrm>
          <a:custGeom>
            <a:avLst/>
            <a:gdLst/>
            <a:ahLst/>
            <a:cxnLst/>
            <a:rect r="r" b="b" t="t" l="l"/>
            <a:pathLst>
              <a:path h="655919" w="2406316">
                <a:moveTo>
                  <a:pt x="0" y="0"/>
                </a:moveTo>
                <a:lnTo>
                  <a:pt x="2406316" y="0"/>
                </a:lnTo>
                <a:lnTo>
                  <a:pt x="240631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278488" y="6635716"/>
            <a:ext cx="3489158" cy="2798589"/>
          </a:xfrm>
          <a:custGeom>
            <a:avLst/>
            <a:gdLst/>
            <a:ahLst/>
            <a:cxnLst/>
            <a:rect r="r" b="b" t="t" l="l"/>
            <a:pathLst>
              <a:path h="2798589" w="3489158">
                <a:moveTo>
                  <a:pt x="0" y="0"/>
                </a:moveTo>
                <a:lnTo>
                  <a:pt x="3489158" y="0"/>
                </a:lnTo>
                <a:lnTo>
                  <a:pt x="3489158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923818" y="7062064"/>
            <a:ext cx="2187560" cy="1519546"/>
          </a:xfrm>
          <a:custGeom>
            <a:avLst/>
            <a:gdLst/>
            <a:ahLst/>
            <a:cxnLst/>
            <a:rect r="r" b="b" t="t" l="l"/>
            <a:pathLst>
              <a:path h="1519546" w="2187560">
                <a:moveTo>
                  <a:pt x="0" y="0"/>
                </a:moveTo>
                <a:lnTo>
                  <a:pt x="2187560" y="0"/>
                </a:lnTo>
                <a:lnTo>
                  <a:pt x="218756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858559" y="8806912"/>
            <a:ext cx="2329494" cy="3711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9"/>
              </a:lnSpc>
            </a:pPr>
            <a:r>
              <a:rPr lang="en-US" sz="2759" b="true">
                <a:solidFill>
                  <a:srgbClr val="101F38"/>
                </a:solidFill>
                <a:latin typeface="Roboto Bold"/>
                <a:ea typeface="Roboto Bold"/>
                <a:cs typeface="Roboto Bold"/>
                <a:sym typeface="Roboto Bold"/>
              </a:rPr>
              <a:t>Apartamentos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5277" y="792596"/>
            <a:ext cx="7518359" cy="1083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91"/>
              </a:lnSpc>
            </a:pPr>
            <a:r>
              <a:rPr lang="en-US" sz="7631" spc="-74" b="true">
                <a:solidFill>
                  <a:srgbClr val="0B233F"/>
                </a:solidFill>
                <a:latin typeface="Roboto Bold"/>
                <a:ea typeface="Roboto Bold"/>
                <a:cs typeface="Roboto Bold"/>
                <a:sym typeface="Roboto Bold"/>
              </a:rPr>
              <a:t>¿Qué utilizamos?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82842" y="2350377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720768" y="2661401"/>
            <a:ext cx="3850532" cy="4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ASP.NET Core Web API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82842" y="3421712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03196" y="3214004"/>
            <a:ext cx="5676718" cy="437279"/>
          </a:xfrm>
          <a:custGeom>
            <a:avLst/>
            <a:gdLst/>
            <a:ahLst/>
            <a:cxnLst/>
            <a:rect r="r" b="b" t="t" l="l"/>
            <a:pathLst>
              <a:path h="437279" w="5676718">
                <a:moveTo>
                  <a:pt x="0" y="0"/>
                </a:moveTo>
                <a:lnTo>
                  <a:pt x="5676718" y="0"/>
                </a:lnTo>
                <a:lnTo>
                  <a:pt x="5676718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82842" y="4493047"/>
            <a:ext cx="1104718" cy="874559"/>
          </a:xfrm>
          <a:custGeom>
            <a:avLst/>
            <a:gdLst/>
            <a:ahLst/>
            <a:cxnLst/>
            <a:rect r="r" b="b" t="t" l="l"/>
            <a:pathLst>
              <a:path h="874559" w="1104718">
                <a:moveTo>
                  <a:pt x="0" y="0"/>
                </a:moveTo>
                <a:lnTo>
                  <a:pt x="1104718" y="0"/>
                </a:lnTo>
                <a:lnTo>
                  <a:pt x="1104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03196" y="4285339"/>
            <a:ext cx="5676718" cy="218640"/>
          </a:xfrm>
          <a:custGeom>
            <a:avLst/>
            <a:gdLst/>
            <a:ahLst/>
            <a:cxnLst/>
            <a:rect r="r" b="b" t="t" l="l"/>
            <a:pathLst>
              <a:path h="218640" w="5676718">
                <a:moveTo>
                  <a:pt x="0" y="0"/>
                </a:moveTo>
                <a:lnTo>
                  <a:pt x="5676718" y="0"/>
                </a:lnTo>
                <a:lnTo>
                  <a:pt x="567671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46253" y="4694614"/>
            <a:ext cx="1302069" cy="4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.NET 10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82842" y="5356674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603196" y="5356674"/>
            <a:ext cx="5676718" cy="218640"/>
          </a:xfrm>
          <a:custGeom>
            <a:avLst/>
            <a:gdLst/>
            <a:ahLst/>
            <a:cxnLst/>
            <a:rect r="r" b="b" t="t" l="l"/>
            <a:pathLst>
              <a:path h="218640" w="5676718">
                <a:moveTo>
                  <a:pt x="0" y="0"/>
                </a:moveTo>
                <a:lnTo>
                  <a:pt x="5676718" y="0"/>
                </a:lnTo>
                <a:lnTo>
                  <a:pt x="5676718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740963" y="5658508"/>
            <a:ext cx="1831079" cy="4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SQL Server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82842" y="6428009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603196" y="6209369"/>
            <a:ext cx="5676718" cy="229572"/>
          </a:xfrm>
          <a:custGeom>
            <a:avLst/>
            <a:gdLst/>
            <a:ahLst/>
            <a:cxnLst/>
            <a:rect r="r" b="b" t="t" l="l"/>
            <a:pathLst>
              <a:path h="229572" w="5676718">
                <a:moveTo>
                  <a:pt x="0" y="0"/>
                </a:moveTo>
                <a:lnTo>
                  <a:pt x="5676718" y="0"/>
                </a:lnTo>
                <a:lnTo>
                  <a:pt x="5676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744947" y="6637463"/>
            <a:ext cx="1432632" cy="4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Swagger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01598" y="7499343"/>
            <a:ext cx="885962" cy="863627"/>
          </a:xfrm>
          <a:custGeom>
            <a:avLst/>
            <a:gdLst/>
            <a:ahLst/>
            <a:cxnLst/>
            <a:rect r="r" b="b" t="t" l="l"/>
            <a:pathLst>
              <a:path h="863627" w="885962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2603196" y="7280704"/>
            <a:ext cx="5676718" cy="229572"/>
          </a:xfrm>
          <a:custGeom>
            <a:avLst/>
            <a:gdLst/>
            <a:ahLst/>
            <a:cxnLst/>
            <a:rect r="r" b="b" t="t" l="l"/>
            <a:pathLst>
              <a:path h="229572" w="5676718">
                <a:moveTo>
                  <a:pt x="0" y="0"/>
                </a:moveTo>
                <a:lnTo>
                  <a:pt x="5676718" y="0"/>
                </a:lnTo>
                <a:lnTo>
                  <a:pt x="5676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2719069" y="7631478"/>
            <a:ext cx="4020406" cy="4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Microsoft Data.SqlClient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301598" y="8352038"/>
            <a:ext cx="885962" cy="1082267"/>
          </a:xfrm>
          <a:custGeom>
            <a:avLst/>
            <a:gdLst/>
            <a:ahLst/>
            <a:cxnLst/>
            <a:rect r="r" b="b" t="t" l="l"/>
            <a:pathLst>
              <a:path h="1082267" w="885962">
                <a:moveTo>
                  <a:pt x="0" y="0"/>
                </a:moveTo>
                <a:lnTo>
                  <a:pt x="885962" y="0"/>
                </a:lnTo>
                <a:lnTo>
                  <a:pt x="88596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603196" y="8133399"/>
            <a:ext cx="5676718" cy="229572"/>
          </a:xfrm>
          <a:custGeom>
            <a:avLst/>
            <a:gdLst/>
            <a:ahLst/>
            <a:cxnLst/>
            <a:rect r="r" b="b" t="t" l="l"/>
            <a:pathLst>
              <a:path h="229572" w="5676718">
                <a:moveTo>
                  <a:pt x="0" y="0"/>
                </a:moveTo>
                <a:lnTo>
                  <a:pt x="5676718" y="0"/>
                </a:lnTo>
                <a:lnTo>
                  <a:pt x="567671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716675" y="8580311"/>
            <a:ext cx="4259830" cy="4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Swashbuckle.AspNetCore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706488" y="1279043"/>
            <a:ext cx="9581512" cy="8581610"/>
          </a:xfrm>
          <a:custGeom>
            <a:avLst/>
            <a:gdLst/>
            <a:ahLst/>
            <a:cxnLst/>
            <a:rect r="r" b="b" t="t" l="l"/>
            <a:pathLst>
              <a:path h="8581610" w="9581512">
                <a:moveTo>
                  <a:pt x="0" y="0"/>
                </a:moveTo>
                <a:lnTo>
                  <a:pt x="9581512" y="0"/>
                </a:lnTo>
                <a:lnTo>
                  <a:pt x="9581512" y="8581609"/>
                </a:lnTo>
                <a:lnTo>
                  <a:pt x="0" y="8581609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351818" y="6428009"/>
            <a:ext cx="8509608" cy="3006296"/>
          </a:xfrm>
          <a:custGeom>
            <a:avLst/>
            <a:gdLst/>
            <a:ahLst/>
            <a:cxnLst/>
            <a:rect r="r" b="b" t="t" l="l"/>
            <a:pathLst>
              <a:path h="3006296" w="8509608">
                <a:moveTo>
                  <a:pt x="0" y="0"/>
                </a:moveTo>
                <a:lnTo>
                  <a:pt x="8509608" y="0"/>
                </a:lnTo>
                <a:lnTo>
                  <a:pt x="850960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24430" y="7684798"/>
            <a:ext cx="3750469" cy="39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Microsoft Data.SqlClient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3278488" y="6854356"/>
            <a:ext cx="229694" cy="2153601"/>
          </a:xfrm>
          <a:custGeom>
            <a:avLst/>
            <a:gdLst/>
            <a:ahLst/>
            <a:cxnLst/>
            <a:rect r="r" b="b" t="t" l="l"/>
            <a:pathLst>
              <a:path h="2153601" w="229694">
                <a:moveTo>
                  <a:pt x="0" y="0"/>
                </a:moveTo>
                <a:lnTo>
                  <a:pt x="229694" y="0"/>
                </a:lnTo>
                <a:lnTo>
                  <a:pt x="229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716000" y="7654677"/>
            <a:ext cx="3750469" cy="39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0B233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conecta con SQL Server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16000" y="8467962"/>
            <a:ext cx="3750469" cy="39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0B233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integra Swagger al proyecto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724430" y="8467962"/>
            <a:ext cx="3750469" cy="39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Swashbuckle.AspNetCore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16000" y="6931756"/>
            <a:ext cx="3750469" cy="39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>
                <a:solidFill>
                  <a:srgbClr val="0B233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permite probar la API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724430" y="6931756"/>
            <a:ext cx="3750469" cy="39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6"/>
              </a:lnSpc>
            </a:pPr>
            <a:r>
              <a:rPr lang="en-US" sz="2254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Swagger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93031" y="2699660"/>
            <a:ext cx="616148" cy="392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6"/>
              </a:lnSpc>
            </a:pPr>
            <a:r>
              <a:rPr lang="en-US" sz="2254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.NET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754720" y="3685538"/>
            <a:ext cx="455368" cy="47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59" b="true">
                <a:solidFill>
                  <a:srgbClr val="0B233F">
                    <a:alpha val="84706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C#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30689" y="728153"/>
            <a:ext cx="9977243" cy="1783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21"/>
              </a:lnSpc>
            </a:pPr>
            <a:r>
              <a:rPr lang="en-US" sz="6385" spc="-62" b="true">
                <a:solidFill>
                  <a:srgbClr val="081833"/>
                </a:solidFill>
                <a:latin typeface="Roboto Bold"/>
                <a:ea typeface="Roboto Bold"/>
                <a:cs typeface="Roboto Bold"/>
                <a:sym typeface="Roboto Bold"/>
              </a:rPr>
              <a:t>Program.cs e</a:t>
            </a:r>
          </a:p>
          <a:p>
            <a:pPr algn="l">
              <a:lnSpc>
                <a:spcPts val="7021"/>
              </a:lnSpc>
            </a:pPr>
            <a:r>
              <a:rPr lang="en-US" sz="6385" spc="-62" b="true">
                <a:solidFill>
                  <a:srgbClr val="081833"/>
                </a:solidFill>
                <a:latin typeface="Roboto Bold"/>
                <a:ea typeface="Roboto Bold"/>
                <a:cs typeface="Roboto Bold"/>
                <a:sym typeface="Roboto Bold"/>
              </a:rPr>
              <a:t>Inyección de Dependencias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5207" y="3684869"/>
            <a:ext cx="6883224" cy="804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sz="2179" spc="-21">
                <a:solidFill>
                  <a:srgbClr val="2D3750"/>
                </a:solidFill>
                <a:latin typeface="Roboto"/>
                <a:ea typeface="Roboto"/>
                <a:cs typeface="Roboto"/>
                <a:sym typeface="Roboto"/>
              </a:rPr>
              <a:t>Program.cs configura los servicios de la aplicación, Controllers y Swagger.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8087" y="4845000"/>
            <a:ext cx="5595183" cy="77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20">
                <a:solidFill>
                  <a:srgbClr val="2D3750"/>
                </a:solidFill>
                <a:latin typeface="Roboto"/>
                <a:ea typeface="Roboto"/>
                <a:cs typeface="Roboto"/>
                <a:sym typeface="Roboto"/>
              </a:rPr>
              <a:t>Los servicios propios se registran mediante</a:t>
            </a:r>
          </a:p>
          <a:p>
            <a:pPr algn="l">
              <a:lnSpc>
                <a:spcPts val="3164"/>
              </a:lnSpc>
            </a:pPr>
            <a:r>
              <a:rPr lang="en-US" sz="2109" spc="-20">
                <a:solidFill>
                  <a:srgbClr val="2D3750"/>
                </a:solidFill>
                <a:latin typeface="Roboto"/>
                <a:ea typeface="Roboto"/>
                <a:cs typeface="Roboto"/>
                <a:sym typeface="Roboto"/>
              </a:rPr>
              <a:t>inyección de dependencias.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8981" y="6019745"/>
            <a:ext cx="5505833" cy="379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20">
                <a:solidFill>
                  <a:srgbClr val="2D3750"/>
                </a:solidFill>
                <a:latin typeface="Roboto"/>
                <a:ea typeface="Roboto"/>
                <a:cs typeface="Roboto"/>
                <a:sym typeface="Roboto"/>
              </a:rPr>
              <a:t>Se usa ILogger para el registro de eventos.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8325" y="6757726"/>
            <a:ext cx="5571448" cy="77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64"/>
              </a:lnSpc>
            </a:pPr>
            <a:r>
              <a:rPr lang="en-US" sz="2109" spc="-20">
                <a:solidFill>
                  <a:srgbClr val="2D3750"/>
                </a:solidFill>
                <a:latin typeface="Roboto"/>
                <a:ea typeface="Roboto"/>
                <a:cs typeface="Roboto"/>
                <a:sym typeface="Roboto"/>
              </a:rPr>
              <a:t>Se usa IConfiguration para configuraciones</a:t>
            </a:r>
          </a:p>
          <a:p>
            <a:pPr algn="l">
              <a:lnSpc>
                <a:spcPts val="3164"/>
              </a:lnSpc>
            </a:pPr>
            <a:r>
              <a:rPr lang="en-US" sz="2109" spc="-20">
                <a:solidFill>
                  <a:srgbClr val="2D3750"/>
                </a:solidFill>
                <a:latin typeface="Roboto"/>
                <a:ea typeface="Roboto"/>
                <a:cs typeface="Roboto"/>
                <a:sym typeface="Roboto"/>
              </a:rPr>
              <a:t>como la cadena de conexión.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26842" y="2569017"/>
            <a:ext cx="5239206" cy="1727254"/>
          </a:xfrm>
          <a:custGeom>
            <a:avLst/>
            <a:gdLst/>
            <a:ahLst/>
            <a:cxnLst/>
            <a:rect r="r" b="b" t="t" l="l"/>
            <a:pathLst>
              <a:path h="1727254" w="5239206">
                <a:moveTo>
                  <a:pt x="0" y="0"/>
                </a:moveTo>
                <a:lnTo>
                  <a:pt x="5239206" y="0"/>
                </a:lnTo>
                <a:lnTo>
                  <a:pt x="523920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868424" y="2748223"/>
            <a:ext cx="1905642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60"/>
              </a:lnSpc>
            </a:pPr>
            <a:r>
              <a:rPr lang="en-US" b="true" sz="2707" spc="-26">
                <a:solidFill>
                  <a:srgbClr val="081833"/>
                </a:solidFill>
                <a:latin typeface="Roboto Bold"/>
                <a:ea typeface="Roboto Bold"/>
                <a:cs typeface="Roboto Bold"/>
                <a:sym typeface="Roboto Bold"/>
              </a:rPr>
              <a:t>Program.cs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138956" y="3273248"/>
            <a:ext cx="3364578" cy="6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1740" spc="-16">
                <a:solidFill>
                  <a:srgbClr val="2D3750"/>
                </a:solidFill>
                <a:latin typeface="Roboto"/>
                <a:ea typeface="Roboto"/>
                <a:cs typeface="Roboto"/>
                <a:sym typeface="Roboto"/>
              </a:rPr>
              <a:t>Configura servicios, Controllers</a:t>
            </a:r>
          </a:p>
          <a:p>
            <a:pPr algn="ctr">
              <a:lnSpc>
                <a:spcPts val="2610"/>
              </a:lnSpc>
            </a:pPr>
            <a:r>
              <a:rPr lang="en-US" sz="1740" spc="-16">
                <a:solidFill>
                  <a:srgbClr val="2D3750"/>
                </a:solidFill>
                <a:latin typeface="Roboto"/>
                <a:ea typeface="Roboto"/>
                <a:cs typeface="Roboto"/>
                <a:sym typeface="Roboto"/>
              </a:rPr>
              <a:t>y Swagger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9144000" y="4066699"/>
            <a:ext cx="6967378" cy="1082267"/>
          </a:xfrm>
          <a:custGeom>
            <a:avLst/>
            <a:gdLst/>
            <a:ahLst/>
            <a:cxnLst/>
            <a:rect r="r" b="b" t="t" l="l"/>
            <a:pathLst>
              <a:path h="1082267" w="6967378">
                <a:moveTo>
                  <a:pt x="0" y="0"/>
                </a:moveTo>
                <a:lnTo>
                  <a:pt x="6967378" y="0"/>
                </a:lnTo>
                <a:lnTo>
                  <a:pt x="696737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31464" y="4919394"/>
            <a:ext cx="3062584" cy="1300906"/>
          </a:xfrm>
          <a:custGeom>
            <a:avLst/>
            <a:gdLst/>
            <a:ahLst/>
            <a:cxnLst/>
            <a:rect r="r" b="b" t="t" l="l"/>
            <a:pathLst>
              <a:path h="1300906" w="3062584">
                <a:moveTo>
                  <a:pt x="0" y="0"/>
                </a:moveTo>
                <a:lnTo>
                  <a:pt x="3062584" y="0"/>
                </a:lnTo>
                <a:lnTo>
                  <a:pt x="306258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292313" y="5442009"/>
            <a:ext cx="2116282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1740" spc="-16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IResidencialService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1101866" y="4919394"/>
            <a:ext cx="3051646" cy="1300906"/>
          </a:xfrm>
          <a:custGeom>
            <a:avLst/>
            <a:gdLst/>
            <a:ahLst/>
            <a:cxnLst/>
            <a:rect r="r" b="b" t="t" l="l"/>
            <a:pathLst>
              <a:path h="1300906" w="3051646">
                <a:moveTo>
                  <a:pt x="0" y="0"/>
                </a:moveTo>
                <a:lnTo>
                  <a:pt x="3051646" y="0"/>
                </a:lnTo>
                <a:lnTo>
                  <a:pt x="3051646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458032" y="5442009"/>
            <a:ext cx="2291909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1740" spc="-16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IApartamentoService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361330" y="4919394"/>
            <a:ext cx="3062584" cy="1300906"/>
          </a:xfrm>
          <a:custGeom>
            <a:avLst/>
            <a:gdLst/>
            <a:ahLst/>
            <a:cxnLst/>
            <a:rect r="r" b="b" t="t" l="l"/>
            <a:pathLst>
              <a:path h="1300906" w="3062584">
                <a:moveTo>
                  <a:pt x="0" y="0"/>
                </a:moveTo>
                <a:lnTo>
                  <a:pt x="3062584" y="0"/>
                </a:lnTo>
                <a:lnTo>
                  <a:pt x="3062584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199072" y="5305904"/>
            <a:ext cx="1532275" cy="60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b="true" sz="1617" spc="-15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Servicios de</a:t>
            </a:r>
          </a:p>
          <a:p>
            <a:pPr algn="ctr">
              <a:lnSpc>
                <a:spcPts val="2425"/>
              </a:lnSpc>
            </a:pPr>
            <a:r>
              <a:rPr lang="en-US" b="true" sz="1617" spc="-15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Infraestructura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144000" y="5990729"/>
            <a:ext cx="437512" cy="1082267"/>
          </a:xfrm>
          <a:custGeom>
            <a:avLst/>
            <a:gdLst/>
            <a:ahLst/>
            <a:cxnLst/>
            <a:rect r="r" b="b" t="t" l="l"/>
            <a:pathLst>
              <a:path h="1082267" w="437512">
                <a:moveTo>
                  <a:pt x="0" y="0"/>
                </a:moveTo>
                <a:lnTo>
                  <a:pt x="437512" y="0"/>
                </a:lnTo>
                <a:lnTo>
                  <a:pt x="437512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831464" y="6854356"/>
            <a:ext cx="3062584" cy="1082267"/>
          </a:xfrm>
          <a:custGeom>
            <a:avLst/>
            <a:gdLst/>
            <a:ahLst/>
            <a:cxnLst/>
            <a:rect r="r" b="b" t="t" l="l"/>
            <a:pathLst>
              <a:path h="1082267" w="3062584">
                <a:moveTo>
                  <a:pt x="0" y="0"/>
                </a:moveTo>
                <a:lnTo>
                  <a:pt x="3062584" y="0"/>
                </a:lnTo>
                <a:lnTo>
                  <a:pt x="306258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322391" y="7234249"/>
            <a:ext cx="2056127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1740" spc="-16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ResidencialService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101866" y="6854356"/>
            <a:ext cx="3051646" cy="1082267"/>
          </a:xfrm>
          <a:custGeom>
            <a:avLst/>
            <a:gdLst/>
            <a:ahLst/>
            <a:cxnLst/>
            <a:rect r="r" b="b" t="t" l="l"/>
            <a:pathLst>
              <a:path h="1082267" w="3051646">
                <a:moveTo>
                  <a:pt x="0" y="0"/>
                </a:moveTo>
                <a:lnTo>
                  <a:pt x="3051646" y="0"/>
                </a:lnTo>
                <a:lnTo>
                  <a:pt x="305164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1488109" y="7234249"/>
            <a:ext cx="2231753" cy="312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b="true" sz="1740" spc="-16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ApartamentoService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2403464" y="5990729"/>
            <a:ext cx="448450" cy="1082267"/>
          </a:xfrm>
          <a:custGeom>
            <a:avLst/>
            <a:gdLst/>
            <a:ahLst/>
            <a:cxnLst/>
            <a:rect r="r" b="b" t="t" l="l"/>
            <a:pathLst>
              <a:path h="1082267" w="448450">
                <a:moveTo>
                  <a:pt x="0" y="0"/>
                </a:moveTo>
                <a:lnTo>
                  <a:pt x="448450" y="0"/>
                </a:lnTo>
                <a:lnTo>
                  <a:pt x="448450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361330" y="6854356"/>
            <a:ext cx="3062584" cy="1082267"/>
          </a:xfrm>
          <a:custGeom>
            <a:avLst/>
            <a:gdLst/>
            <a:ahLst/>
            <a:cxnLst/>
            <a:rect r="r" b="b" t="t" l="l"/>
            <a:pathLst>
              <a:path h="1082267" w="3062584">
                <a:moveTo>
                  <a:pt x="0" y="0"/>
                </a:moveTo>
                <a:lnTo>
                  <a:pt x="3062584" y="0"/>
                </a:lnTo>
                <a:lnTo>
                  <a:pt x="306258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5234173" y="7083083"/>
            <a:ext cx="1462074" cy="60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b="true" sz="1617" spc="-15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ILogger</a:t>
            </a:r>
          </a:p>
          <a:p>
            <a:pPr algn="ctr">
              <a:lnSpc>
                <a:spcPts val="2425"/>
              </a:lnSpc>
            </a:pPr>
            <a:r>
              <a:rPr lang="en-US" b="true" sz="1617" spc="-15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IConfiguration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15892622" y="5990729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4361330" y="8570678"/>
            <a:ext cx="3062584" cy="1082267"/>
          </a:xfrm>
          <a:custGeom>
            <a:avLst/>
            <a:gdLst/>
            <a:ahLst/>
            <a:cxnLst/>
            <a:rect r="r" b="b" t="t" l="l"/>
            <a:pathLst>
              <a:path h="1082267" w="3062584">
                <a:moveTo>
                  <a:pt x="0" y="0"/>
                </a:moveTo>
                <a:lnTo>
                  <a:pt x="3062584" y="0"/>
                </a:lnTo>
                <a:lnTo>
                  <a:pt x="3062584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14861132" y="8769897"/>
            <a:ext cx="2208156" cy="60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25"/>
              </a:lnSpc>
            </a:pPr>
            <a:r>
              <a:rPr lang="en-US" b="true" sz="1617" spc="-15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Configuración</a:t>
            </a:r>
          </a:p>
          <a:p>
            <a:pPr algn="ctr">
              <a:lnSpc>
                <a:spcPts val="2425"/>
              </a:lnSpc>
            </a:pPr>
            <a:r>
              <a:rPr lang="en-US" b="true" sz="1617" spc="-15">
                <a:solidFill>
                  <a:srgbClr val="2D3750"/>
                </a:solidFill>
                <a:latin typeface="Roboto Bold"/>
                <a:ea typeface="Roboto Bold"/>
                <a:cs typeface="Roboto Bold"/>
                <a:sym typeface="Roboto Bold"/>
              </a:rPr>
              <a:t>(cadena de conexión)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5892622" y="7707051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1301" y="762220"/>
            <a:ext cx="10594878" cy="1064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94"/>
              </a:lnSpc>
            </a:pPr>
            <a:r>
              <a:rPr lang="en-US" sz="7543" b="true">
                <a:solidFill>
                  <a:srgbClr val="0F233D"/>
                </a:solidFill>
                <a:latin typeface="Roboto Bold"/>
                <a:ea typeface="Roboto Bold"/>
                <a:cs typeface="Roboto Bold"/>
                <a:sym typeface="Roboto Bold"/>
              </a:rPr>
              <a:t>Métodos de nuestra API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40428" y="2270027"/>
            <a:ext cx="7039998" cy="893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5"/>
              </a:lnSpc>
            </a:pPr>
            <a:r>
              <a:rPr lang="en-US" sz="2575">
                <a:solidFill>
                  <a:srgbClr val="394660"/>
                </a:solidFill>
                <a:latin typeface="Roboto"/>
                <a:ea typeface="Roboto"/>
                <a:cs typeface="Roboto"/>
                <a:sym typeface="Roboto"/>
              </a:rPr>
              <a:t>Nuestra API expone dos controllers principales y ofrece operaciones CRUD para cada recurso.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3421712"/>
            <a:ext cx="8072096" cy="2372241"/>
          </a:xfrm>
          <a:custGeom>
            <a:avLst/>
            <a:gdLst/>
            <a:ahLst/>
            <a:cxnLst/>
            <a:rect r="r" b="b" t="t" l="l"/>
            <a:pathLst>
              <a:path h="2372241" w="8072096">
                <a:moveTo>
                  <a:pt x="0" y="0"/>
                </a:moveTo>
                <a:lnTo>
                  <a:pt x="8072096" y="0"/>
                </a:lnTo>
                <a:lnTo>
                  <a:pt x="8072096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739110" y="3848060"/>
            <a:ext cx="1531292" cy="1519546"/>
          </a:xfrm>
          <a:custGeom>
            <a:avLst/>
            <a:gdLst/>
            <a:ahLst/>
            <a:cxnLst/>
            <a:rect r="r" b="b" t="t" l="l"/>
            <a:pathLst>
              <a:path h="1519546" w="1531292">
                <a:moveTo>
                  <a:pt x="0" y="0"/>
                </a:moveTo>
                <a:lnTo>
                  <a:pt x="1531292" y="0"/>
                </a:lnTo>
                <a:lnTo>
                  <a:pt x="1531292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845240" y="4515792"/>
            <a:ext cx="3917416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b="true">
                <a:solidFill>
                  <a:srgbClr val="0F233D"/>
                </a:solidFill>
                <a:latin typeface="Roboto Bold"/>
                <a:ea typeface="Roboto Bold"/>
                <a:cs typeface="Roboto Bold"/>
                <a:sym typeface="Roboto Bold"/>
              </a:rPr>
              <a:t>ResidencialesController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864086" y="5783021"/>
            <a:ext cx="8072096" cy="2361309"/>
          </a:xfrm>
          <a:custGeom>
            <a:avLst/>
            <a:gdLst/>
            <a:ahLst/>
            <a:cxnLst/>
            <a:rect r="r" b="b" t="t" l="l"/>
            <a:pathLst>
              <a:path h="2361309" w="8072096">
                <a:moveTo>
                  <a:pt x="0" y="0"/>
                </a:moveTo>
                <a:lnTo>
                  <a:pt x="8072096" y="0"/>
                </a:lnTo>
                <a:lnTo>
                  <a:pt x="807209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1598" y="6209369"/>
            <a:ext cx="2187560" cy="1508614"/>
          </a:xfrm>
          <a:custGeom>
            <a:avLst/>
            <a:gdLst/>
            <a:ahLst/>
            <a:cxnLst/>
            <a:rect r="r" b="b" t="t" l="l"/>
            <a:pathLst>
              <a:path h="1508614" w="2187560">
                <a:moveTo>
                  <a:pt x="0" y="0"/>
                </a:moveTo>
                <a:lnTo>
                  <a:pt x="2187560" y="0"/>
                </a:lnTo>
                <a:lnTo>
                  <a:pt x="218756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844767" y="6820100"/>
            <a:ext cx="3964756" cy="400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2759" b="true">
                <a:solidFill>
                  <a:srgbClr val="0F233D"/>
                </a:solidFill>
                <a:latin typeface="Roboto Bold"/>
                <a:ea typeface="Roboto Bold"/>
                <a:cs typeface="Roboto Bold"/>
                <a:sym typeface="Roboto Bold"/>
              </a:rPr>
              <a:t>ApartamentosController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864086" y="8570678"/>
            <a:ext cx="16122316" cy="1289974"/>
          </a:xfrm>
          <a:custGeom>
            <a:avLst/>
            <a:gdLst/>
            <a:ahLst/>
            <a:cxnLst/>
            <a:rect r="r" b="b" t="t" l="l"/>
            <a:pathLst>
              <a:path h="1289974" w="16122316">
                <a:moveTo>
                  <a:pt x="0" y="0"/>
                </a:moveTo>
                <a:lnTo>
                  <a:pt x="16122316" y="0"/>
                </a:lnTo>
                <a:lnTo>
                  <a:pt x="1612231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03454" y="8966963"/>
            <a:ext cx="13599940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394660"/>
                </a:solidFill>
                <a:latin typeface="Roboto"/>
                <a:ea typeface="Roboto"/>
                <a:cs typeface="Roboto"/>
                <a:sym typeface="Roboto"/>
              </a:rPr>
              <a:t>Posteriormente mostraremos los endpoints con </a:t>
            </a:r>
            <a:r>
              <a:rPr lang="en-US" sz="2707" b="true">
                <a:solidFill>
                  <a:srgbClr val="394660"/>
                </a:solidFill>
                <a:latin typeface="Roboto Bold"/>
                <a:ea typeface="Roboto Bold"/>
                <a:cs typeface="Roboto Bold"/>
                <a:sym typeface="Roboto Bold"/>
              </a:rPr>
              <a:t>Swagger</a:t>
            </a:r>
            <a:r>
              <a:rPr lang="en-US" sz="2707">
                <a:solidFill>
                  <a:srgbClr val="39466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101866" y="2350377"/>
            <a:ext cx="5884536" cy="1508614"/>
          </a:xfrm>
          <a:custGeom>
            <a:avLst/>
            <a:gdLst/>
            <a:ahLst/>
            <a:cxnLst/>
            <a:rect r="r" b="b" t="t" l="l"/>
            <a:pathLst>
              <a:path h="1508614" w="5884536">
                <a:moveTo>
                  <a:pt x="0" y="0"/>
                </a:moveTo>
                <a:lnTo>
                  <a:pt x="5884536" y="0"/>
                </a:lnTo>
                <a:lnTo>
                  <a:pt x="5884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01866" y="2350377"/>
            <a:ext cx="1968804" cy="1508614"/>
          </a:xfrm>
          <a:custGeom>
            <a:avLst/>
            <a:gdLst/>
            <a:ahLst/>
            <a:cxnLst/>
            <a:rect r="r" b="b" t="t" l="l"/>
            <a:pathLst>
              <a:path h="1508614" w="196880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591332" y="2853298"/>
            <a:ext cx="833187" cy="48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3440" b="true">
                <a:solidFill>
                  <a:srgbClr val="F6F4F0"/>
                </a:solidFill>
                <a:latin typeface="Roboto Bold"/>
                <a:ea typeface="Roboto Bold"/>
                <a:cs typeface="Roboto Bold"/>
                <a:sym typeface="Roboto Bold"/>
              </a:rPr>
              <a:t>GET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91929" y="2822140"/>
            <a:ext cx="1507845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394660"/>
                </a:solidFill>
                <a:latin typeface="Roboto"/>
                <a:ea typeface="Roboto"/>
                <a:cs typeface="Roboto"/>
                <a:sym typeface="Roboto"/>
              </a:rPr>
              <a:t>Consultar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789330" y="2776725"/>
            <a:ext cx="1323474" cy="655919"/>
          </a:xfrm>
          <a:custGeom>
            <a:avLst/>
            <a:gdLst/>
            <a:ahLst/>
            <a:cxnLst/>
            <a:rect r="r" b="b" t="t" l="l"/>
            <a:pathLst>
              <a:path h="655919" w="1323474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1101866" y="3848060"/>
            <a:ext cx="5884536" cy="1300906"/>
          </a:xfrm>
          <a:custGeom>
            <a:avLst/>
            <a:gdLst/>
            <a:ahLst/>
            <a:cxnLst/>
            <a:rect r="r" b="b" t="t" l="l"/>
            <a:pathLst>
              <a:path h="1300906" w="5884536">
                <a:moveTo>
                  <a:pt x="0" y="0"/>
                </a:moveTo>
                <a:lnTo>
                  <a:pt x="5884536" y="0"/>
                </a:lnTo>
                <a:lnTo>
                  <a:pt x="5884536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101866" y="3848060"/>
            <a:ext cx="1968804" cy="1300906"/>
          </a:xfrm>
          <a:custGeom>
            <a:avLst/>
            <a:gdLst/>
            <a:ahLst/>
            <a:cxnLst/>
            <a:rect r="r" b="b" t="t" l="l"/>
            <a:pathLst>
              <a:path h="1300906" w="1968804">
                <a:moveTo>
                  <a:pt x="0" y="0"/>
                </a:moveTo>
                <a:lnTo>
                  <a:pt x="1968804" y="0"/>
                </a:lnTo>
                <a:lnTo>
                  <a:pt x="196880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1454226" y="4314199"/>
            <a:ext cx="1149291" cy="48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3440" b="true">
                <a:solidFill>
                  <a:srgbClr val="F6F4F0"/>
                </a:solidFill>
                <a:latin typeface="Roboto Bold"/>
                <a:ea typeface="Roboto Bold"/>
                <a:cs typeface="Roboto Bold"/>
                <a:sym typeface="Roboto Bold"/>
              </a:rPr>
              <a:t>POST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198570" y="4298102"/>
            <a:ext cx="843734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394660"/>
                </a:solidFill>
                <a:latin typeface="Roboto"/>
                <a:ea typeface="Roboto"/>
                <a:cs typeface="Roboto"/>
                <a:sym typeface="Roboto"/>
              </a:rPr>
              <a:t>Crear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789330" y="4285339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1101866" y="5356674"/>
            <a:ext cx="5884536" cy="1289974"/>
          </a:xfrm>
          <a:custGeom>
            <a:avLst/>
            <a:gdLst/>
            <a:ahLst/>
            <a:cxnLst/>
            <a:rect r="r" b="b" t="t" l="l"/>
            <a:pathLst>
              <a:path h="1289974" w="5884536">
                <a:moveTo>
                  <a:pt x="0" y="0"/>
                </a:moveTo>
                <a:lnTo>
                  <a:pt x="5884536" y="0"/>
                </a:lnTo>
                <a:lnTo>
                  <a:pt x="5884536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101866" y="5356674"/>
            <a:ext cx="1968804" cy="1289974"/>
          </a:xfrm>
          <a:custGeom>
            <a:avLst/>
            <a:gdLst/>
            <a:ahLst/>
            <a:cxnLst/>
            <a:rect r="r" b="b" t="t" l="l"/>
            <a:pathLst>
              <a:path h="1289974" w="1968804">
                <a:moveTo>
                  <a:pt x="0" y="0"/>
                </a:moveTo>
                <a:lnTo>
                  <a:pt x="1968804" y="0"/>
                </a:lnTo>
                <a:lnTo>
                  <a:pt x="1968804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1591066" y="5760040"/>
            <a:ext cx="859838" cy="48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3440" b="true">
                <a:solidFill>
                  <a:srgbClr val="F6F4F0"/>
                </a:solidFill>
                <a:latin typeface="Roboto Bold"/>
                <a:ea typeface="Roboto Bold"/>
                <a:cs typeface="Roboto Bold"/>
                <a:sym typeface="Roboto Bold"/>
              </a:rPr>
              <a:t>PUT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191334" y="5728882"/>
            <a:ext cx="1567377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394660"/>
                </a:solidFill>
                <a:latin typeface="Roboto"/>
                <a:ea typeface="Roboto"/>
                <a:cs typeface="Roboto"/>
                <a:sym typeface="Roboto"/>
              </a:rPr>
              <a:t>Actualizar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789330" y="5783021"/>
            <a:ext cx="1323474" cy="437279"/>
          </a:xfrm>
          <a:custGeom>
            <a:avLst/>
            <a:gdLst/>
            <a:ahLst/>
            <a:cxnLst/>
            <a:rect r="r" b="b" t="t" l="l"/>
            <a:pathLst>
              <a:path h="437279" w="1323474">
                <a:moveTo>
                  <a:pt x="0" y="0"/>
                </a:moveTo>
                <a:lnTo>
                  <a:pt x="1323474" y="0"/>
                </a:lnTo>
                <a:lnTo>
                  <a:pt x="1323474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1101866" y="6635716"/>
            <a:ext cx="5884536" cy="1508614"/>
          </a:xfrm>
          <a:custGeom>
            <a:avLst/>
            <a:gdLst/>
            <a:ahLst/>
            <a:cxnLst/>
            <a:rect r="r" b="b" t="t" l="l"/>
            <a:pathLst>
              <a:path h="1508614" w="5884536">
                <a:moveTo>
                  <a:pt x="0" y="0"/>
                </a:moveTo>
                <a:lnTo>
                  <a:pt x="5884536" y="0"/>
                </a:lnTo>
                <a:lnTo>
                  <a:pt x="5884536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1101866" y="6635716"/>
            <a:ext cx="1968804" cy="1508614"/>
          </a:xfrm>
          <a:custGeom>
            <a:avLst/>
            <a:gdLst/>
            <a:ahLst/>
            <a:cxnLst/>
            <a:rect r="r" b="b" t="t" l="l"/>
            <a:pathLst>
              <a:path h="1508614" w="196880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11316240" y="7220785"/>
            <a:ext cx="1553319" cy="48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3"/>
              </a:lnSpc>
            </a:pPr>
            <a:r>
              <a:rPr lang="en-US" sz="3440" b="true">
                <a:solidFill>
                  <a:srgbClr val="F6F4F0"/>
                </a:solidFill>
                <a:latin typeface="Roboto Bold"/>
                <a:ea typeface="Roboto Bold"/>
                <a:cs typeface="Roboto Bold"/>
                <a:sym typeface="Roboto Bold"/>
              </a:rPr>
              <a:t>DELETE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194335" y="7174723"/>
            <a:ext cx="1267317" cy="452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9"/>
              </a:lnSpc>
            </a:pPr>
            <a:r>
              <a:rPr lang="en-US" sz="2707">
                <a:solidFill>
                  <a:srgbClr val="394660"/>
                </a:solidFill>
                <a:latin typeface="Roboto"/>
                <a:ea typeface="Roboto"/>
                <a:cs typeface="Roboto"/>
                <a:sym typeface="Roboto"/>
              </a:rPr>
              <a:t>Eliminar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9789330" y="7062064"/>
            <a:ext cx="1323474" cy="655919"/>
          </a:xfrm>
          <a:custGeom>
            <a:avLst/>
            <a:gdLst/>
            <a:ahLst/>
            <a:cxnLst/>
            <a:rect r="r" b="b" t="t" l="l"/>
            <a:pathLst>
              <a:path h="655919" w="1323474">
                <a:moveTo>
                  <a:pt x="0" y="0"/>
                </a:moveTo>
                <a:lnTo>
                  <a:pt x="1323474" y="0"/>
                </a:lnTo>
                <a:lnTo>
                  <a:pt x="1323474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8925244" y="4919394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67000" y="696561"/>
            <a:ext cx="11703923" cy="1113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95"/>
              </a:lnSpc>
            </a:pPr>
            <a:r>
              <a:rPr lang="en-US" sz="7907" b="true">
                <a:solidFill>
                  <a:srgbClr val="11253F"/>
                </a:solidFill>
                <a:latin typeface="Roboto Bold"/>
                <a:ea typeface="Roboto Bold"/>
                <a:cs typeface="Roboto Bold"/>
                <a:sym typeface="Roboto Bold"/>
              </a:rPr>
              <a:t>Conexión con SQL Server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34790" y="2123575"/>
            <a:ext cx="10282712" cy="84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7">
                <a:solidFill>
                  <a:srgbClr val="2D3B52"/>
                </a:solidFill>
                <a:latin typeface="Roboto"/>
                <a:ea typeface="Roboto"/>
                <a:cs typeface="Roboto"/>
                <a:sym typeface="Roboto"/>
              </a:rPr>
              <a:t>La API se conecta a SQL Server para guardar y consultar la información de residenciales y apartamentos.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864086" y="3640352"/>
            <a:ext cx="2843828" cy="3432644"/>
          </a:xfrm>
          <a:custGeom>
            <a:avLst/>
            <a:gdLst/>
            <a:ahLst/>
            <a:cxnLst/>
            <a:rect r="r" b="b" t="t" l="l"/>
            <a:pathLst>
              <a:path h="3432644" w="2843828">
                <a:moveTo>
                  <a:pt x="0" y="0"/>
                </a:moveTo>
                <a:lnTo>
                  <a:pt x="2843828" y="0"/>
                </a:lnTo>
                <a:lnTo>
                  <a:pt x="2843828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01598" y="4285339"/>
            <a:ext cx="1968804" cy="1508614"/>
          </a:xfrm>
          <a:custGeom>
            <a:avLst/>
            <a:gdLst/>
            <a:ahLst/>
            <a:cxnLst/>
            <a:rect r="r" b="b" t="t" l="l"/>
            <a:pathLst>
              <a:path h="1508614" w="1968804">
                <a:moveTo>
                  <a:pt x="0" y="0"/>
                </a:moveTo>
                <a:lnTo>
                  <a:pt x="1968804" y="0"/>
                </a:lnTo>
                <a:lnTo>
                  <a:pt x="196880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09393" y="6155731"/>
            <a:ext cx="2534283" cy="44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</a:pPr>
            <a:r>
              <a:rPr lang="en-US" sz="2575" b="true">
                <a:solidFill>
                  <a:srgbClr val="11253F"/>
                </a:solidFill>
                <a:latin typeface="Roboto Bold"/>
                <a:ea typeface="Roboto Bold"/>
                <a:cs typeface="Roboto Bold"/>
                <a:sym typeface="Roboto Bold"/>
              </a:rPr>
              <a:t>appsettings.json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353244" y="3640352"/>
            <a:ext cx="2832890" cy="3432644"/>
          </a:xfrm>
          <a:custGeom>
            <a:avLst/>
            <a:gdLst/>
            <a:ahLst/>
            <a:cxnLst/>
            <a:rect r="r" b="b" t="t" l="l"/>
            <a:pathLst>
              <a:path h="3432644" w="2832890">
                <a:moveTo>
                  <a:pt x="0" y="0"/>
                </a:moveTo>
                <a:lnTo>
                  <a:pt x="2832890" y="0"/>
                </a:lnTo>
                <a:lnTo>
                  <a:pt x="2832890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654939" y="4935803"/>
            <a:ext cx="2183166" cy="44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</a:pPr>
            <a:r>
              <a:rPr lang="en-US" sz="2575" b="true">
                <a:solidFill>
                  <a:srgbClr val="11253F"/>
                </a:solidFill>
                <a:latin typeface="Roboto Bold"/>
                <a:ea typeface="Roboto Bold"/>
                <a:cs typeface="Roboto Bold"/>
                <a:sym typeface="Roboto Bold"/>
              </a:rPr>
              <a:t>IConfiguration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696976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956440" y="4919394"/>
            <a:ext cx="885962" cy="448211"/>
          </a:xfrm>
          <a:custGeom>
            <a:avLst/>
            <a:gdLst/>
            <a:ahLst/>
            <a:cxnLst/>
            <a:rect r="r" b="b" t="t" l="l"/>
            <a:pathLst>
              <a:path h="448211" w="885962">
                <a:moveTo>
                  <a:pt x="0" y="0"/>
                </a:moveTo>
                <a:lnTo>
                  <a:pt x="885962" y="0"/>
                </a:lnTo>
                <a:lnTo>
                  <a:pt x="88596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831464" y="3640352"/>
            <a:ext cx="2625072" cy="3432644"/>
          </a:xfrm>
          <a:custGeom>
            <a:avLst/>
            <a:gdLst/>
            <a:ahLst/>
            <a:cxnLst/>
            <a:rect r="r" b="b" t="t" l="l"/>
            <a:pathLst>
              <a:path h="3432644" w="2625072">
                <a:moveTo>
                  <a:pt x="0" y="0"/>
                </a:moveTo>
                <a:lnTo>
                  <a:pt x="2625072" y="0"/>
                </a:lnTo>
                <a:lnTo>
                  <a:pt x="2625072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68976" y="4066699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009964" y="6155731"/>
            <a:ext cx="2223959" cy="44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</a:pPr>
            <a:r>
              <a:rPr lang="en-US" sz="2575" b="true">
                <a:solidFill>
                  <a:srgbClr val="11253F"/>
                </a:solidFill>
                <a:latin typeface="Roboto Bold"/>
                <a:ea typeface="Roboto Bold"/>
                <a:cs typeface="Roboto Bold"/>
                <a:sym typeface="Roboto Bold"/>
              </a:rPr>
              <a:t>SqlConnection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0445598" y="4919394"/>
            <a:ext cx="885962" cy="448211"/>
          </a:xfrm>
          <a:custGeom>
            <a:avLst/>
            <a:gdLst/>
            <a:ahLst/>
            <a:cxnLst/>
            <a:rect r="r" b="b" t="t" l="l"/>
            <a:pathLst>
              <a:path h="448211" w="885962">
                <a:moveTo>
                  <a:pt x="0" y="0"/>
                </a:moveTo>
                <a:lnTo>
                  <a:pt x="885962" y="0"/>
                </a:lnTo>
                <a:lnTo>
                  <a:pt x="88596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101866" y="3640352"/>
            <a:ext cx="2832890" cy="3432644"/>
          </a:xfrm>
          <a:custGeom>
            <a:avLst/>
            <a:gdLst/>
            <a:ahLst/>
            <a:cxnLst/>
            <a:rect r="r" b="b" t="t" l="l"/>
            <a:pathLst>
              <a:path h="3432644" w="2832890">
                <a:moveTo>
                  <a:pt x="0" y="0"/>
                </a:moveTo>
                <a:lnTo>
                  <a:pt x="2832890" y="0"/>
                </a:lnTo>
                <a:lnTo>
                  <a:pt x="2832890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528440" y="4285339"/>
            <a:ext cx="1979742" cy="1716322"/>
          </a:xfrm>
          <a:custGeom>
            <a:avLst/>
            <a:gdLst/>
            <a:ahLst/>
            <a:cxnLst/>
            <a:rect r="r" b="b" t="t" l="l"/>
            <a:pathLst>
              <a:path h="1716322" w="1979742">
                <a:moveTo>
                  <a:pt x="0" y="0"/>
                </a:moveTo>
                <a:lnTo>
                  <a:pt x="1979742" y="0"/>
                </a:lnTo>
                <a:lnTo>
                  <a:pt x="1979742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1512628" y="6155731"/>
            <a:ext cx="2048236" cy="44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</a:pPr>
            <a:r>
              <a:rPr lang="en-US" sz="2575" b="true">
                <a:solidFill>
                  <a:srgbClr val="11253F"/>
                </a:solidFill>
                <a:latin typeface="Roboto Bold"/>
                <a:ea typeface="Roboto Bold"/>
                <a:cs typeface="Roboto Bold"/>
                <a:sym typeface="Roboto Bold"/>
              </a:rPr>
              <a:t>SqlCommand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923818" y="4919394"/>
            <a:ext cx="885962" cy="448211"/>
          </a:xfrm>
          <a:custGeom>
            <a:avLst/>
            <a:gdLst/>
            <a:ahLst/>
            <a:cxnLst/>
            <a:rect r="r" b="b" t="t" l="l"/>
            <a:pathLst>
              <a:path h="448211" w="885962">
                <a:moveTo>
                  <a:pt x="0" y="0"/>
                </a:moveTo>
                <a:lnTo>
                  <a:pt x="885962" y="0"/>
                </a:lnTo>
                <a:lnTo>
                  <a:pt x="885962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580086" y="3640352"/>
            <a:ext cx="2843828" cy="3432644"/>
          </a:xfrm>
          <a:custGeom>
            <a:avLst/>
            <a:gdLst/>
            <a:ahLst/>
            <a:cxnLst/>
            <a:rect r="r" b="b" t="t" l="l"/>
            <a:pathLst>
              <a:path h="3432644" w="2843828">
                <a:moveTo>
                  <a:pt x="0" y="0"/>
                </a:moveTo>
                <a:lnTo>
                  <a:pt x="2843828" y="0"/>
                </a:lnTo>
                <a:lnTo>
                  <a:pt x="2843828" y="3432644"/>
                </a:lnTo>
                <a:lnTo>
                  <a:pt x="0" y="343264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236354" y="4066699"/>
            <a:ext cx="1750048" cy="1934962"/>
          </a:xfrm>
          <a:custGeom>
            <a:avLst/>
            <a:gdLst/>
            <a:ahLst/>
            <a:cxnLst/>
            <a:rect r="r" b="b" t="t" l="l"/>
            <a:pathLst>
              <a:path h="1934962" w="1750048">
                <a:moveTo>
                  <a:pt x="0" y="0"/>
                </a:moveTo>
                <a:lnTo>
                  <a:pt x="1750048" y="0"/>
                </a:lnTo>
                <a:lnTo>
                  <a:pt x="1750048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5263843" y="6155731"/>
            <a:ext cx="1700092" cy="44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6"/>
              </a:lnSpc>
            </a:pPr>
            <a:r>
              <a:rPr lang="en-US" sz="2575" b="true">
                <a:solidFill>
                  <a:srgbClr val="11253F"/>
                </a:solidFill>
                <a:latin typeface="Roboto Bold"/>
                <a:ea typeface="Roboto Bold"/>
                <a:cs typeface="Roboto Bold"/>
                <a:sym typeface="Roboto Bold"/>
              </a:rPr>
              <a:t>SQL Server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864086" y="7707051"/>
            <a:ext cx="16559828" cy="1945894"/>
          </a:xfrm>
          <a:custGeom>
            <a:avLst/>
            <a:gdLst/>
            <a:ahLst/>
            <a:cxnLst/>
            <a:rect r="r" b="b" t="t" l="l"/>
            <a:pathLst>
              <a:path h="1945894" w="16559828">
                <a:moveTo>
                  <a:pt x="0" y="0"/>
                </a:moveTo>
                <a:lnTo>
                  <a:pt x="16559828" y="0"/>
                </a:lnTo>
                <a:lnTo>
                  <a:pt x="16559828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535391" y="8309397"/>
            <a:ext cx="1939309" cy="82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00"/>
              </a:lnSpc>
            </a:pPr>
            <a:r>
              <a:rPr lang="en-US" sz="5729" b="true">
                <a:solidFill>
                  <a:srgbClr val="11253F"/>
                </a:solidFill>
                <a:latin typeface="Roboto Bold"/>
                <a:ea typeface="Roboto Bold"/>
                <a:cs typeface="Roboto Bold"/>
                <a:sym typeface="Roboto Bold"/>
              </a:rPr>
              <a:t>CRUD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3915732" y="7925691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374118" y="8046762"/>
            <a:ext cx="7286607" cy="117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2487">
                <a:solidFill>
                  <a:srgbClr val="2D3B52"/>
                </a:solidFill>
                <a:latin typeface="Roboto"/>
                <a:ea typeface="Roboto"/>
                <a:cs typeface="Roboto"/>
                <a:sym typeface="Roboto"/>
              </a:rPr>
              <a:t>Las operaciones de crear, leer, actualizar y eliminar se traducen en instrucciones SQL: SELECT, INSERT, UPDATE y DELETE.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29599" y="8136911"/>
            <a:ext cx="3630728" cy="1042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0"/>
              </a:lnSpc>
            </a:pPr>
            <a:r>
              <a:rPr lang="en-US" b="true" sz="3304">
                <a:solidFill>
                  <a:srgbClr val="6C93B4"/>
                </a:solidFill>
                <a:latin typeface="Roboto Bold"/>
                <a:ea typeface="Roboto Bold"/>
                <a:cs typeface="Roboto Bold"/>
                <a:sym typeface="Roboto Bold"/>
              </a:rPr>
              <a:t>SELECT | INSERT</a:t>
            </a:r>
          </a:p>
          <a:p>
            <a:pPr algn="just">
              <a:lnSpc>
                <a:spcPts val="4130"/>
              </a:lnSpc>
            </a:pPr>
            <a:r>
              <a:rPr lang="en-US" b="true" sz="3304">
                <a:solidFill>
                  <a:srgbClr val="6C93B4"/>
                </a:solidFill>
                <a:latin typeface="Roboto Bold"/>
                <a:ea typeface="Roboto Bold"/>
                <a:cs typeface="Roboto Bold"/>
                <a:sym typeface="Roboto Bold"/>
              </a:rPr>
              <a:t>UPDATE |  DELETE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81673" y="602277"/>
            <a:ext cx="12915523" cy="937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7"/>
              </a:lnSpc>
            </a:pPr>
            <a:r>
              <a:rPr lang="en-US" sz="6618" b="true">
                <a:solidFill>
                  <a:srgbClr val="192E46"/>
                </a:solidFill>
                <a:latin typeface="Roboto Bold"/>
                <a:ea typeface="Roboto Bold"/>
                <a:cs typeface="Roboto Bold"/>
                <a:sym typeface="Roboto Bold"/>
              </a:rPr>
              <a:t>¿Qué podemos agregar después?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864086" y="2776725"/>
            <a:ext cx="4582938" cy="4733550"/>
          </a:xfrm>
          <a:custGeom>
            <a:avLst/>
            <a:gdLst/>
            <a:ahLst/>
            <a:cxnLst/>
            <a:rect r="r" b="b" t="t" l="l"/>
            <a:pathLst>
              <a:path h="4733550" w="4582938">
                <a:moveTo>
                  <a:pt x="0" y="0"/>
                </a:moveTo>
                <a:lnTo>
                  <a:pt x="4582938" y="0"/>
                </a:lnTo>
                <a:lnTo>
                  <a:pt x="4582938" y="4733550"/>
                </a:lnTo>
                <a:lnTo>
                  <a:pt x="0" y="4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876138" y="3280654"/>
            <a:ext cx="2588498" cy="342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b="true">
                <a:solidFill>
                  <a:srgbClr val="192E46"/>
                </a:solidFill>
                <a:latin typeface="Roboto Bold"/>
                <a:ea typeface="Roboto Bold"/>
                <a:cs typeface="Roboto Bold"/>
                <a:sym typeface="Roboto Bold"/>
              </a:rPr>
              <a:t>VERSIÓN ACTUAL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957866" y="4066699"/>
            <a:ext cx="2614134" cy="2153601"/>
          </a:xfrm>
          <a:custGeom>
            <a:avLst/>
            <a:gdLst/>
            <a:ahLst/>
            <a:cxnLst/>
            <a:rect r="r" b="b" t="t" l="l"/>
            <a:pathLst>
              <a:path h="2153601" w="2614134">
                <a:moveTo>
                  <a:pt x="0" y="0"/>
                </a:moveTo>
                <a:lnTo>
                  <a:pt x="2614134" y="0"/>
                </a:lnTo>
                <a:lnTo>
                  <a:pt x="261413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10858" y="6365441"/>
            <a:ext cx="3575140" cy="6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Nuestro API permite gestionar residenciales y apartamentos.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5654842" y="4711687"/>
            <a:ext cx="1750048" cy="863627"/>
          </a:xfrm>
          <a:custGeom>
            <a:avLst/>
            <a:gdLst/>
            <a:ahLst/>
            <a:cxnLst/>
            <a:rect r="r" b="b" t="t" l="l"/>
            <a:pathLst>
              <a:path h="863627" w="1750048">
                <a:moveTo>
                  <a:pt x="0" y="0"/>
                </a:moveTo>
                <a:lnTo>
                  <a:pt x="1750048" y="0"/>
                </a:lnTo>
                <a:lnTo>
                  <a:pt x="175004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12708" y="1924030"/>
            <a:ext cx="9811206" cy="6012593"/>
          </a:xfrm>
          <a:custGeom>
            <a:avLst/>
            <a:gdLst/>
            <a:ahLst/>
            <a:cxnLst/>
            <a:rect r="r" b="b" t="t" l="l"/>
            <a:pathLst>
              <a:path h="6012593" w="9811206">
                <a:moveTo>
                  <a:pt x="0" y="0"/>
                </a:moveTo>
                <a:lnTo>
                  <a:pt x="9811206" y="0"/>
                </a:lnTo>
                <a:lnTo>
                  <a:pt x="9811206" y="6012593"/>
                </a:lnTo>
                <a:lnTo>
                  <a:pt x="0" y="601259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268976" y="2995365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617475" y="3217726"/>
            <a:ext cx="2658734" cy="6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Página web para mostrar apartamentos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840976" y="2995365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4154831" y="3217726"/>
            <a:ext cx="1658345" cy="6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Imágenes de apartamentos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8268976" y="4285339"/>
            <a:ext cx="8498670" cy="218640"/>
          </a:xfrm>
          <a:custGeom>
            <a:avLst/>
            <a:gdLst/>
            <a:ahLst/>
            <a:cxnLst/>
            <a:rect r="r" b="b" t="t" l="l"/>
            <a:pathLst>
              <a:path h="218640" w="8498670">
                <a:moveTo>
                  <a:pt x="0" y="0"/>
                </a:moveTo>
                <a:lnTo>
                  <a:pt x="8498670" y="0"/>
                </a:lnTo>
                <a:lnTo>
                  <a:pt x="849867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268976" y="4493047"/>
            <a:ext cx="1093780" cy="1300906"/>
          </a:xfrm>
          <a:custGeom>
            <a:avLst/>
            <a:gdLst/>
            <a:ahLst/>
            <a:cxnLst/>
            <a:rect r="r" b="b" t="t" l="l"/>
            <a:pathLst>
              <a:path h="1300906" w="1093780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605434" y="4829235"/>
            <a:ext cx="1183957" cy="6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Búsqueda</a:t>
            </a:r>
          </a:p>
          <a:p>
            <a:pPr algn="l">
              <a:lnSpc>
                <a:spcPts val="2661"/>
              </a:lnSpc>
            </a:pPr>
            <a:r>
              <a:rPr lang="en-US" sz="2047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y filtros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2840976" y="4711687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160409" y="5004134"/>
            <a:ext cx="1100466" cy="341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1"/>
              </a:lnSpc>
            </a:pPr>
            <a:r>
              <a:rPr lang="en-US" sz="2109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Usuarios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8268976" y="5990729"/>
            <a:ext cx="8498670" cy="229572"/>
          </a:xfrm>
          <a:custGeom>
            <a:avLst/>
            <a:gdLst/>
            <a:ahLst/>
            <a:cxnLst/>
            <a:rect r="r" b="b" t="t" l="l"/>
            <a:pathLst>
              <a:path h="229572" w="8498670">
                <a:moveTo>
                  <a:pt x="0" y="0"/>
                </a:moveTo>
                <a:lnTo>
                  <a:pt x="8498670" y="0"/>
                </a:lnTo>
                <a:lnTo>
                  <a:pt x="8498670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8268976" y="6428009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9616741" y="6486051"/>
            <a:ext cx="2732145" cy="6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Solicitudes de información o contacto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2840976" y="6209369"/>
            <a:ext cx="1093780" cy="1300906"/>
          </a:xfrm>
          <a:custGeom>
            <a:avLst/>
            <a:gdLst/>
            <a:ahLst/>
            <a:cxnLst/>
            <a:rect r="r" b="b" t="t" l="l"/>
            <a:pathLst>
              <a:path h="1300906" w="1093780">
                <a:moveTo>
                  <a:pt x="0" y="0"/>
                </a:moveTo>
                <a:lnTo>
                  <a:pt x="1093780" y="0"/>
                </a:lnTo>
                <a:lnTo>
                  <a:pt x="109378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4183412" y="6485928"/>
            <a:ext cx="1479068" cy="654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1"/>
              </a:lnSpc>
            </a:pPr>
            <a:r>
              <a:rPr lang="en-US" sz="2047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Mejoras en</a:t>
            </a:r>
          </a:p>
          <a:p>
            <a:pPr algn="l">
              <a:lnSpc>
                <a:spcPts val="2661"/>
              </a:lnSpc>
            </a:pPr>
            <a:r>
              <a:rPr lang="en-US" sz="2047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validaciones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864086" y="8133399"/>
            <a:ext cx="16559828" cy="1519546"/>
          </a:xfrm>
          <a:custGeom>
            <a:avLst/>
            <a:gdLst/>
            <a:ahLst/>
            <a:cxnLst/>
            <a:rect r="r" b="b" t="t" l="l"/>
            <a:pathLst>
              <a:path h="1519546" w="16559828">
                <a:moveTo>
                  <a:pt x="0" y="0"/>
                </a:moveTo>
                <a:lnTo>
                  <a:pt x="16559828" y="0"/>
                </a:lnTo>
                <a:lnTo>
                  <a:pt x="16559828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853721" y="8766219"/>
            <a:ext cx="14233726" cy="459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4"/>
              </a:lnSpc>
            </a:pPr>
            <a:r>
              <a:rPr lang="en-US" sz="3168">
                <a:solidFill>
                  <a:srgbClr val="192E46"/>
                </a:solidFill>
                <a:latin typeface="Roboto"/>
                <a:ea typeface="Roboto"/>
                <a:cs typeface="Roboto"/>
                <a:sym typeface="Roboto"/>
              </a:rPr>
              <a:t>Esta primera versión nos sirve como base para seguir </a:t>
            </a:r>
            <a:r>
              <a:rPr lang="en-US" sz="3168" b="true">
                <a:solidFill>
                  <a:srgbClr val="081A30"/>
                </a:solidFill>
                <a:latin typeface="Roboto Bold"/>
                <a:ea typeface="Roboto Bold"/>
                <a:cs typeface="Roboto Bold"/>
                <a:sym typeface="Roboto Bold"/>
              </a:rPr>
              <a:t>ampliando el proyecto.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165196" y="2286639"/>
            <a:ext cx="4143687" cy="342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sz="2399" b="true">
                <a:solidFill>
                  <a:srgbClr val="192E46"/>
                </a:solidFill>
                <a:latin typeface="Roboto Bold"/>
                <a:ea typeface="Roboto Bold"/>
                <a:cs typeface="Roboto Bold"/>
                <a:sym typeface="Roboto Bold"/>
              </a:rPr>
              <a:t>LO QUE PODEMOS AGREGAR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DAHXRqyDIX4</dc:identifier>
  <dcterms:modified xsi:type="dcterms:W3CDTF">2011-08-01T06:04:30Z</dcterms:modified>
  <cp:revision>1</cp:revision>
  <dc:title>Catálogo de Apartamentos API</dc:title>
</cp:coreProperties>
</file>